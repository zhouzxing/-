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png"/><Relationship Id="rId10" Type="http://schemas.openxmlformats.org/officeDocument/2006/relationships/image" Target="../media/image18.jpg"/><Relationship Id="rId11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10.jpg"/><Relationship Id="rId6" Type="http://schemas.openxmlformats.org/officeDocument/2006/relationships/image" Target="../media/image34.jpg"/><Relationship Id="rId7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80A0C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4592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imSun"/>
              </a:rPr>
              <a:t>邢堡村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0584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265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A65E"/>
                </a:solidFill>
                <a:latin typeface="Microsoft YaHei"/>
              </a:rPr>
              <a:t>化峪镇 · 稷山县 · 运城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严格筛选专题版 · 去重素材库 · 标准淡入切换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A65E"/>
                </a:solidFill>
                <a:latin typeface="Microsoft YaHei"/>
              </a:rPr>
              <a:t>不塞错图：已剔除错配、低清、水印风险素材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  <p:transition spd="med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地理概貌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历史溯源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古村落建筑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78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农耕文明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稷山四宝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古迹与非遗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95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短视频入口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  <p:transition spd="med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地理概貌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黄土塬、塬坡、沟壑：邢堡村的自然基底。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  <p:transition spd="med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黄土塬图集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pic>
        <p:nvPicPr>
          <p:cNvPr id="7" name="Picture 6" descr="loess_2____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塬坡</a:t>
            </a:r>
          </a:p>
        </p:txBody>
      </p:sp>
      <p:pic>
        <p:nvPicPr>
          <p:cNvPr id="10" name="Picture 9" descr="loess_5____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沟壑</a:t>
            </a:r>
          </a:p>
        </p:txBody>
      </p:sp>
      <p:pic>
        <p:nvPicPr>
          <p:cNvPr id="13" name="Picture 12" descr="loess_6____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耕地</a:t>
            </a:r>
          </a:p>
        </p:txBody>
      </p:sp>
      <p:pic>
        <p:nvPicPr>
          <p:cNvPr id="16" name="Picture 15" descr="loess_7____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pic>
        <p:nvPicPr>
          <p:cNvPr id="19" name="Picture 18" descr="loess_9____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塬坡</a:t>
            </a:r>
          </a:p>
        </p:txBody>
      </p:sp>
      <p:pic>
        <p:nvPicPr>
          <p:cNvPr id="22" name="Picture 21" descr="loess_10________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800600"/>
            <a:ext cx="3273552" cy="1508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沟壑</a:t>
            </a:r>
          </a:p>
        </p:txBody>
      </p:sp>
      <p:pic>
        <p:nvPicPr>
          <p:cNvPr id="25" name="Picture 24" descr="loess_11________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4800600"/>
            <a:ext cx="3273552" cy="1508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370832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耕地</a:t>
            </a:r>
          </a:p>
        </p:txBody>
      </p:sp>
      <p:pic>
        <p:nvPicPr>
          <p:cNvPr id="28" name="Picture 27" descr="loess_15_______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296" y="4800600"/>
            <a:ext cx="3273552" cy="15087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83296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  <p:transition spd="med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4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02 历史溯源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6868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8321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4ECDC"/>
                </a:solidFill>
                <a:latin typeface="Microsoft YaHei"/>
              </a:rPr>
              <a:t>稷山因后稷教稼得名，是中华农耕文明的重要记忆现场。
邢堡村延续塬区村落格局，保留古井、场院、老槐、民居院墙与地方记忆。
村落不是孤立建筑，而是耕作、节庆、信仰、宗族、手艺共同沉淀的生活系统。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  <p:transition spd="med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4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古村落建筑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青砖、灰瓦、院落、砖雕：晋南民居的材料语言。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  <p:transition spd="med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古建筑图集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4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砖雕</a:t>
            </a:r>
          </a:p>
        </p:txBody>
      </p:sp>
      <p:pic>
        <p:nvPicPr>
          <p:cNvPr id="7" name="Picture 6" descr="architecture_5______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青砖</a:t>
            </a:r>
          </a:p>
        </p:txBody>
      </p:sp>
      <p:pic>
        <p:nvPicPr>
          <p:cNvPr id="10" name="Picture 9" descr="architecture_6___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屋顶</a:t>
            </a:r>
          </a:p>
        </p:txBody>
      </p:sp>
      <p:pic>
        <p:nvPicPr>
          <p:cNvPr id="13" name="Picture 12" descr="architecture_7______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pic>
        <p:nvPicPr>
          <p:cNvPr id="16" name="Picture 15" descr="architecture_9___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砖雕</a:t>
            </a:r>
          </a:p>
        </p:txBody>
      </p:sp>
      <p:pic>
        <p:nvPicPr>
          <p:cNvPr id="19" name="Picture 18" descr="architecture_10_____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青砖</a:t>
            </a:r>
          </a:p>
        </p:txBody>
      </p:sp>
      <p:pic>
        <p:nvPicPr>
          <p:cNvPr id="22" name="Picture 21" descr="architecture_11_________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800600"/>
            <a:ext cx="3273552" cy="1508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屋顶</a:t>
            </a:r>
          </a:p>
        </p:txBody>
      </p:sp>
      <p:pic>
        <p:nvPicPr>
          <p:cNvPr id="25" name="Picture 24" descr="architecture_12_________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4800600"/>
            <a:ext cx="3273552" cy="1508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370832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pic>
        <p:nvPicPr>
          <p:cNvPr id="28" name="Picture 27" descr="architecture_14_________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296" y="4800600"/>
            <a:ext cx="3273552" cy="15087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83296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砖雕</a:t>
            </a:r>
          </a:p>
        </p:txBody>
      </p:sp>
      <p:pic>
        <p:nvPicPr>
          <p:cNvPr id="31" name="Picture 30" descr="architecture_15_________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6355079"/>
            <a:ext cx="3273552" cy="150876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58368" y="7662671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7772399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青砖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  <p:transition spd="med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4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80A0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80A0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87451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imSun"/>
              </a:rPr>
              <a:t>青砖古韵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8272" y="2606040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880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ECDC"/>
                </a:solidFill>
                <a:latin typeface="Microsoft YaHei"/>
              </a:rPr>
              <a:t>门楼、院墙、屋顶和砖雕共同构成晋南建筑的秩序与符号。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  <p:transition spd="med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农耕文明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塬区四季：春种、夏长、秋收、冬藏。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  <p:transition spd="med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zao_1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稷山四宝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麻花、板枣与晋南风味，是邢堡村走向全国的文化名片。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  <p:transition spd="med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inese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麻花工艺与传播记忆点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17320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和面</a:t>
            </a:r>
          </a:p>
        </p:txBody>
      </p:sp>
      <p:sp>
        <p:nvSpPr>
          <p:cNvPr id="9" name="Oval 8"/>
          <p:cNvSpPr/>
          <p:nvPr/>
        </p:nvSpPr>
        <p:spPr>
          <a:xfrm>
            <a:off x="2578608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醒面</a:t>
            </a:r>
          </a:p>
        </p:txBody>
      </p:sp>
      <p:sp>
        <p:nvSpPr>
          <p:cNvPr id="12" name="Oval 11"/>
          <p:cNvSpPr/>
          <p:nvPr/>
        </p:nvSpPr>
        <p:spPr>
          <a:xfrm>
            <a:off x="4334256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盘条</a:t>
            </a:r>
          </a:p>
        </p:txBody>
      </p:sp>
      <p:sp>
        <p:nvSpPr>
          <p:cNvPr id="15" name="Oval 14"/>
          <p:cNvSpPr/>
          <p:nvPr/>
        </p:nvSpPr>
        <p:spPr>
          <a:xfrm>
            <a:off x="6089904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拧股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入油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出锅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CDC"/>
                </a:solidFill>
                <a:latin typeface="Microsoft YaHei"/>
              </a:rPr>
              <a:t>注：因网上“稷山麻花”高清无水印图难辨真伪，本版不强行使用可疑麻花图，保留工艺叙事与扫码入口。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  <p:transition spd="med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稷山板枣图集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nzao_1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枣林</a:t>
            </a:r>
          </a:p>
        </p:txBody>
      </p:sp>
      <p:pic>
        <p:nvPicPr>
          <p:cNvPr id="7" name="Picture 6" descr="banzao_2_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板枣</a:t>
            </a:r>
          </a:p>
        </p:txBody>
      </p:sp>
      <p:pic>
        <p:nvPicPr>
          <p:cNvPr id="10" name="Picture 9" descr="banzao_3_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枣花</a:t>
            </a:r>
          </a:p>
        </p:txBody>
      </p:sp>
      <p:pic>
        <p:nvPicPr>
          <p:cNvPr id="13" name="Picture 12" descr="banzao_5_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采摘</a:t>
            </a:r>
          </a:p>
        </p:txBody>
      </p:sp>
      <p:pic>
        <p:nvPicPr>
          <p:cNvPr id="16" name="Picture 15" descr="banzao_6_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枣林</a:t>
            </a:r>
          </a:p>
        </p:txBody>
      </p:sp>
      <p:pic>
        <p:nvPicPr>
          <p:cNvPr id="19" name="Picture 18" descr="banzao_9_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板枣</a:t>
            </a:r>
          </a:p>
        </p:txBody>
      </p:sp>
      <p:pic>
        <p:nvPicPr>
          <p:cNvPr id="22" name="Picture 21" descr="banzao_10_____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800600"/>
            <a:ext cx="3273552" cy="1508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枣花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  <p:transition spd="med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zao_1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4846320" cy="4892040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imSun"/>
              </a:rPr>
              <a:t>稷山板枣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148840"/>
            <a:ext cx="86868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514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4ECDC"/>
                </a:solidFill>
                <a:latin typeface="Microsoft YaHei"/>
              </a:rPr>
              <a:t>唐代古枣林 · 万亩枣花香 · 晒制板枣 · 农遗记忆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2062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ECDC"/>
                </a:solidFill>
                <a:latin typeface="Microsoft YaHei"/>
              </a:rPr>
              <a:t>可用枣花节、采摘节、晒枣场、礼盒伴手礼组成四季内容日历。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  <p:transition spd="med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itage_1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古迹与非遗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古迹、民俗、手作技艺：从历史现场到传播素材。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  <p:transition spd="med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古迹与民俗图集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itage_1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古迹</a:t>
            </a:r>
          </a:p>
        </p:txBody>
      </p:sp>
      <p:pic>
        <p:nvPicPr>
          <p:cNvPr id="7" name="Picture 6" descr="heritage_2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民俗</a:t>
            </a:r>
          </a:p>
        </p:txBody>
      </p:sp>
      <p:pic>
        <p:nvPicPr>
          <p:cNvPr id="10" name="Picture 9" descr="heritage_3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技艺</a:t>
            </a:r>
          </a:p>
        </p:txBody>
      </p:sp>
      <p:pic>
        <p:nvPicPr>
          <p:cNvPr id="13" name="Picture 12" descr="heritage_4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古迹</a:t>
            </a:r>
          </a:p>
        </p:txBody>
      </p:sp>
      <p:pic>
        <p:nvPicPr>
          <p:cNvPr id="16" name="Picture 15" descr="heritage_5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民俗</a:t>
            </a:r>
          </a:p>
        </p:txBody>
      </p:sp>
      <p:pic>
        <p:nvPicPr>
          <p:cNvPr id="19" name="Picture 18" descr="heritage_6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技艺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  <p:transition spd="med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古村落与生活场景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llage_2_________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pic>
        <p:nvPicPr>
          <p:cNvPr id="7" name="Picture 6" descr="village_3______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村庄</a:t>
            </a:r>
          </a:p>
        </p:txBody>
      </p:sp>
      <p:pic>
        <p:nvPicPr>
          <p:cNvPr id="10" name="Picture 9" descr="village_4______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塬村</a:t>
            </a:r>
          </a:p>
        </p:txBody>
      </p:sp>
      <p:pic>
        <p:nvPicPr>
          <p:cNvPr id="13" name="Picture 12" descr="village_5______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  <p:transition spd="med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llage_2_________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ECDC"/>
                </a:solidFill>
                <a:latin typeface="Microsoft YaHei"/>
              </a:rPr>
              <a:t>07 短视频与扫码传播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07592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douy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1417320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抖音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douyin.com/search/稷山</a:t>
            </a:r>
          </a:p>
        </p:txBody>
      </p:sp>
      <p:pic>
        <p:nvPicPr>
          <p:cNvPr id="9" name="Picture 8" descr="qr_mahu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10312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麻花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1588.tv/techan/3545</a:t>
            </a:r>
          </a:p>
        </p:txBody>
      </p:sp>
      <p:pic>
        <p:nvPicPr>
          <p:cNvPr id="12" name="Picture 11" descr="qr_jiwa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0312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11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稷王庙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weibo.com/山西文旅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CDC"/>
                </a:solidFill>
                <a:latin typeface="Microsoft YaHei"/>
              </a:rPr>
              <a:t>扫码查看抖音/视频号/小红书相关内容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  <p:transition spd="med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短视频选题库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0584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65960" y="1691640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82880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塬上麦浪 15秒</a:t>
            </a:r>
          </a:p>
        </p:txBody>
      </p:sp>
      <p:pic>
        <p:nvPicPr>
          <p:cNvPr id="8" name="Picture 7" descr="banzao_1_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4872"/>
            <a:ext cx="100584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65960" y="2404872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5420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42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板枣采摘 vlog</a:t>
            </a:r>
          </a:p>
        </p:txBody>
      </p:sp>
      <p:pic>
        <p:nvPicPr>
          <p:cNvPr id="12" name="Picture 11" descr="chinese_foo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18104"/>
            <a:ext cx="1005840" cy="5669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965960" y="3118104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2552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552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麻花出锅慢镜头</a:t>
            </a:r>
          </a:p>
        </p:txBody>
      </p:sp>
      <p:pic>
        <p:nvPicPr>
          <p:cNvPr id="16" name="Picture 15" descr="architecture_4___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31335"/>
            <a:ext cx="1005840" cy="5669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5960" y="3831335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9684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684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古院光影走位</a:t>
            </a:r>
          </a:p>
        </p:txBody>
      </p:sp>
      <p:pic>
        <p:nvPicPr>
          <p:cNvPr id="20" name="Picture 19" descr="village_2__________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544568"/>
            <a:ext cx="1005840" cy="56692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965960" y="4544568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6817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6817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一日邢堡生活</a:t>
            </a:r>
          </a:p>
        </p:txBody>
      </p:sp>
      <p:pic>
        <p:nvPicPr>
          <p:cNvPr id="24" name="Picture 23" descr="heritage_1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57800"/>
            <a:ext cx="1005840" cy="5669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65960" y="5257800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53949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非遗民俗片段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  <p:transition spd="med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2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imSun"/>
              </a:rPr>
              <a:t>邢堡村值得被看见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54680"/>
            <a:ext cx="10515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520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让黄土塬、古院落、麻花香气和板枣甜意，成为山西乡村文旅的新叙事。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C6A65E"/>
                </a:solidFill>
                <a:latin typeface="Microsoft YaHe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  <p:transition spd="med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