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0.jpg"/><Relationship Id="rId6" Type="http://schemas.openxmlformats.org/officeDocument/2006/relationships/image" Target="../media/image22.jpg"/><Relationship Id="rId7" Type="http://schemas.openxmlformats.org/officeDocument/2006/relationships/image" Target="../media/image1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ess_1_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080A0C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645920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SimSun"/>
              </a:rPr>
              <a:t>邢堡村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100584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6265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6A65E"/>
                </a:solidFill>
                <a:latin typeface="Microsoft YaHei"/>
              </a:rPr>
              <a:t>化峪镇 · 稷山县 · 运城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ECDC"/>
                </a:solidFill>
                <a:latin typeface="Microsoft YaHei"/>
              </a:rPr>
              <a:t>严格筛选专题版 · 去重素材库 · 标准淡入切换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6A65E"/>
                </a:solidFill>
                <a:latin typeface="Microsoft YaHei"/>
              </a:rPr>
              <a:t>不塞错图：已剔除错配、低清、水印风险素材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  <p:transition spd="med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目录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A65E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CDC"/>
                </a:solidFill>
                <a:latin typeface="Microsoft YaHei"/>
              </a:rPr>
              <a:t>地理概貌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A65E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CDC"/>
                </a:solidFill>
                <a:latin typeface="Microsoft YaHei"/>
              </a:rPr>
              <a:t>历史溯源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786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A65E"/>
                </a:solidFill>
                <a:latin typeface="Microsoft YaHe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578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CDC"/>
                </a:solidFill>
                <a:latin typeface="Microsoft YaHei"/>
              </a:rPr>
              <a:t>古村落建筑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786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A65E"/>
                </a:solidFill>
                <a:latin typeface="Microsoft YaHe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578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CDC"/>
                </a:solidFill>
                <a:latin typeface="Microsoft YaHei"/>
              </a:rPr>
              <a:t>农耕文明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369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A65E"/>
                </a:solidFill>
                <a:latin typeface="Microsoft YaHei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2369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CDC"/>
                </a:solidFill>
                <a:latin typeface="Microsoft YaHei"/>
              </a:rPr>
              <a:t>稷山四宝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369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A65E"/>
                </a:solidFill>
                <a:latin typeface="Microsoft YaHei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2369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CDC"/>
                </a:solidFill>
                <a:latin typeface="Microsoft YaHei"/>
              </a:rPr>
              <a:t>古迹与非遗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953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A65E"/>
                </a:solidFill>
                <a:latin typeface="Microsoft YaHei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953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CDC"/>
                </a:solidFill>
                <a:latin typeface="Microsoft YaHei"/>
              </a:rPr>
              <a:t>短视频入口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  <p:transition spd="med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ess_1_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C6A65E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imSun"/>
              </a:rPr>
              <a:t>地理概貌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456432"/>
            <a:ext cx="96012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ECDC"/>
                </a:solidFill>
                <a:latin typeface="Microsoft YaHei"/>
              </a:rPr>
              <a:t>黄土塬、塬坡、沟壑：邢堡村的自然基底。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  <p:transition spd="med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黄土塬图集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8229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ess_1_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3273552" cy="1508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塬面</a:t>
            </a:r>
          </a:p>
        </p:txBody>
      </p:sp>
      <p:pic>
        <p:nvPicPr>
          <p:cNvPr id="7" name="Picture 6" descr="loess_2______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91640"/>
            <a:ext cx="3273552" cy="1508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70832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塬坡</a:t>
            </a:r>
          </a:p>
        </p:txBody>
      </p:sp>
      <p:pic>
        <p:nvPicPr>
          <p:cNvPr id="10" name="Picture 9" descr="loess_5________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691640"/>
            <a:ext cx="3273552" cy="1508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83296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沟壑</a:t>
            </a:r>
          </a:p>
        </p:txBody>
      </p:sp>
      <p:pic>
        <p:nvPicPr>
          <p:cNvPr id="13" name="Picture 12" descr="loess_6________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46120"/>
            <a:ext cx="3273552" cy="1508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耕地</a:t>
            </a:r>
          </a:p>
        </p:txBody>
      </p:sp>
      <p:pic>
        <p:nvPicPr>
          <p:cNvPr id="16" name="Picture 15" descr="loess_7________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3246120"/>
            <a:ext cx="3273552" cy="15087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70832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塬面</a:t>
            </a:r>
          </a:p>
        </p:txBody>
      </p:sp>
      <p:pic>
        <p:nvPicPr>
          <p:cNvPr id="19" name="Picture 18" descr="loess_9________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3246120"/>
            <a:ext cx="3273552" cy="1508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83296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塬坡</a:t>
            </a:r>
          </a:p>
        </p:txBody>
      </p:sp>
      <p:pic>
        <p:nvPicPr>
          <p:cNvPr id="22" name="Picture 21" descr="loess_10________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800600"/>
            <a:ext cx="3273552" cy="15087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58368" y="610819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621792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沟壑</a:t>
            </a:r>
          </a:p>
        </p:txBody>
      </p:sp>
      <p:pic>
        <p:nvPicPr>
          <p:cNvPr id="25" name="Picture 24" descr="loess_11________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0832" y="4800600"/>
            <a:ext cx="3273552" cy="150876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370832" y="610819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621792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耕地</a:t>
            </a:r>
          </a:p>
        </p:txBody>
      </p:sp>
      <p:pic>
        <p:nvPicPr>
          <p:cNvPr id="28" name="Picture 27" descr="loess_15_______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3296" y="4800600"/>
            <a:ext cx="3273552" cy="150876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083296" y="610819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621792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塬面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  <p:transition spd="med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_pingyao_oldto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02 历史溯源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86868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8321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4ECDC"/>
                </a:solidFill>
                <a:latin typeface="Microsoft YaHei"/>
              </a:rPr>
              <a:t>稷山因后稷教稼得名，是中华农耕文明的重要记忆现场。
邢堡村延续塬区村落格局，保留古井、场院、老槐、民居院墙与地方记忆。
村落不是孤立建筑，而是耕作、节庆、信仰、宗族、手艺共同沉淀的生活系统。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  <p:transition spd="med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_pingyao_oldto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C6A65E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imSun"/>
              </a:rPr>
              <a:t>古村落建筑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456432"/>
            <a:ext cx="96012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ECDC"/>
                </a:solidFill>
                <a:latin typeface="Microsoft YaHei"/>
              </a:rPr>
              <a:t>青砖、灰瓦、院落、砖雕：晋南民居的材料语言。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  <p:transition spd="med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古建筑图集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8229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_pingyao_oldto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3273552" cy="1508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砖雕</a:t>
            </a:r>
          </a:p>
        </p:txBody>
      </p:sp>
      <p:pic>
        <p:nvPicPr>
          <p:cNvPr id="7" name="Picture 6" descr="architecture_pingyao_w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91640"/>
            <a:ext cx="3273552" cy="1508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70832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青砖</a:t>
            </a:r>
          </a:p>
        </p:txBody>
      </p:sp>
      <p:pic>
        <p:nvPicPr>
          <p:cNvPr id="10" name="Picture 9" descr="architecture_qiao_compoun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691640"/>
            <a:ext cx="3273552" cy="1508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83296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屋顶</a:t>
            </a:r>
          </a:p>
        </p:txBody>
      </p:sp>
      <p:pic>
        <p:nvPicPr>
          <p:cNvPr id="13" name="Picture 12" descr="architecture_qiao_skylin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46120"/>
            <a:ext cx="3273552" cy="1508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院落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  <p:transition spd="med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_pingyao_oldto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008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80A0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080A0C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187451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imSun"/>
              </a:rPr>
              <a:t>青砖古韵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8272" y="2606040"/>
            <a:ext cx="91440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28803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ECDC"/>
                </a:solidFill>
                <a:latin typeface="Microsoft YaHei"/>
              </a:rPr>
              <a:t>门楼、院墙、屋顶和砖雕共同构成晋南建筑的秩序与符号。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  <p:transition spd="med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ess_1_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C6A65E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imSun"/>
              </a:rPr>
              <a:t>农耕文明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456432"/>
            <a:ext cx="96012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ECDC"/>
                </a:solidFill>
                <a:latin typeface="Microsoft YaHei"/>
              </a:rPr>
              <a:t>塬区四季：春种、夏长、秋收、冬藏。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  <p:transition spd="med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zao_dongz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C6A65E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imSun"/>
              </a:rPr>
              <a:t>稷山四宝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456432"/>
            <a:ext cx="96012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ECDC"/>
                </a:solidFill>
                <a:latin typeface="Microsoft YaHei"/>
              </a:rPr>
              <a:t>麻花、板枣与晋南风味，是邢堡村走向全国的文化名片。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  <p:transition spd="med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inese_fo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5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麻花工艺与传播记忆点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17320"/>
            <a:ext cx="91440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514600"/>
            <a:ext cx="1234440" cy="1234440"/>
          </a:xfrm>
          <a:prstGeom prst="ellipse">
            <a:avLst/>
          </a:prstGeom>
          <a:solidFill>
            <a:srgbClr val="C6A65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06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01752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和面</a:t>
            </a:r>
          </a:p>
        </p:txBody>
      </p:sp>
      <p:sp>
        <p:nvSpPr>
          <p:cNvPr id="9" name="Oval 8"/>
          <p:cNvSpPr/>
          <p:nvPr/>
        </p:nvSpPr>
        <p:spPr>
          <a:xfrm>
            <a:off x="2578608" y="2514600"/>
            <a:ext cx="1234440" cy="1234440"/>
          </a:xfrm>
          <a:prstGeom prst="ellipse">
            <a:avLst/>
          </a:prstGeom>
          <a:solidFill>
            <a:srgbClr val="C6A65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5" y="2706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912" y="301752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醒面</a:t>
            </a:r>
          </a:p>
        </p:txBody>
      </p:sp>
      <p:sp>
        <p:nvSpPr>
          <p:cNvPr id="12" name="Oval 11"/>
          <p:cNvSpPr/>
          <p:nvPr/>
        </p:nvSpPr>
        <p:spPr>
          <a:xfrm>
            <a:off x="4334256" y="2514600"/>
            <a:ext cx="1234440" cy="1234440"/>
          </a:xfrm>
          <a:prstGeom prst="ellipse">
            <a:avLst/>
          </a:prstGeom>
          <a:solidFill>
            <a:srgbClr val="C6A65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706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01752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盘条</a:t>
            </a:r>
          </a:p>
        </p:txBody>
      </p:sp>
      <p:sp>
        <p:nvSpPr>
          <p:cNvPr id="15" name="Oval 14"/>
          <p:cNvSpPr/>
          <p:nvPr/>
        </p:nvSpPr>
        <p:spPr>
          <a:xfrm>
            <a:off x="6089904" y="2514600"/>
            <a:ext cx="1234440" cy="1234440"/>
          </a:xfrm>
          <a:prstGeom prst="ellipse">
            <a:avLst/>
          </a:prstGeom>
          <a:solidFill>
            <a:srgbClr val="C6A65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706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01752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拧股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2514600"/>
            <a:ext cx="1234440" cy="1234440"/>
          </a:xfrm>
          <a:prstGeom prst="ellipse">
            <a:avLst/>
          </a:prstGeom>
          <a:solidFill>
            <a:srgbClr val="C6A65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706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301752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入油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0" y="2514600"/>
            <a:ext cx="1234440" cy="1234440"/>
          </a:xfrm>
          <a:prstGeom prst="ellipse">
            <a:avLst/>
          </a:prstGeom>
          <a:solidFill>
            <a:srgbClr val="C6A65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3808" y="27066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504" y="301752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出锅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ECDC"/>
                </a:solidFill>
                <a:latin typeface="Microsoft YaHei"/>
              </a:rPr>
              <a:t>注：因网上“稷山麻花”高清无水印图难辨真伪，本版不强行使用可疑麻花图，保留工艺叙事与扫码入口。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  <p:transition spd="med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稷山板枣图集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8229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nzao_dongz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3273552" cy="1508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枣林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  <p:transition spd="med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zao_dongz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4846320" cy="4892040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imSun"/>
              </a:rPr>
              <a:t>稷山板枣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2148840"/>
            <a:ext cx="86868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514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4ECDC"/>
                </a:solidFill>
                <a:latin typeface="Microsoft YaHei"/>
              </a:rPr>
              <a:t>唐代古枣林 · 万亩枣花香 · 晒制板枣 · 农遗记忆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42062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ECDC"/>
                </a:solidFill>
                <a:latin typeface="Microsoft YaHei"/>
              </a:rPr>
              <a:t>可用枣花节、采摘节、晒枣场、礼盒伴手礼组成四季内容日历。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  <p:transition spd="med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itage_1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C6A65E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imSun"/>
              </a:rPr>
              <a:t>古迹与非遗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456432"/>
            <a:ext cx="96012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ECDC"/>
                </a:solidFill>
                <a:latin typeface="Microsoft YaHei"/>
              </a:rPr>
              <a:t>古迹、民俗、手作技艺：从历史现场到传播素材。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  <p:transition spd="med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古迹与民俗图集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8229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ritage_1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3273552" cy="1508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古迹</a:t>
            </a:r>
          </a:p>
        </p:txBody>
      </p:sp>
      <p:pic>
        <p:nvPicPr>
          <p:cNvPr id="7" name="Picture 6" descr="heritage_2__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91640"/>
            <a:ext cx="3273552" cy="1508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70832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民俗</a:t>
            </a:r>
          </a:p>
        </p:txBody>
      </p:sp>
      <p:pic>
        <p:nvPicPr>
          <p:cNvPr id="10" name="Picture 9" descr="heritage_3____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691640"/>
            <a:ext cx="3273552" cy="1508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83296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技艺</a:t>
            </a:r>
          </a:p>
        </p:txBody>
      </p:sp>
      <p:pic>
        <p:nvPicPr>
          <p:cNvPr id="13" name="Picture 12" descr="heritage_4____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46120"/>
            <a:ext cx="3273552" cy="1508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古迹</a:t>
            </a:r>
          </a:p>
        </p:txBody>
      </p:sp>
      <p:pic>
        <p:nvPicPr>
          <p:cNvPr id="16" name="Picture 15" descr="heritage_5____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3246120"/>
            <a:ext cx="3273552" cy="15087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70832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民俗</a:t>
            </a:r>
          </a:p>
        </p:txBody>
      </p:sp>
      <p:pic>
        <p:nvPicPr>
          <p:cNvPr id="19" name="Picture 18" descr="heritage_6____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3246120"/>
            <a:ext cx="3273552" cy="1508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83296" y="455371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466344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技艺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  <p:transition spd="med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古村落与生活场景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8229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llage_cave_hou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3273552" cy="1508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院落</a:t>
            </a:r>
          </a:p>
        </p:txBody>
      </p:sp>
      <p:pic>
        <p:nvPicPr>
          <p:cNvPr id="7" name="Picture 6" descr="village_loess_landsca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91640"/>
            <a:ext cx="3273552" cy="1508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70832" y="2999232"/>
            <a:ext cx="3273552" cy="420624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3108960"/>
            <a:ext cx="2944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A65E"/>
                </a:solidFill>
                <a:latin typeface="Microsoft YaHei"/>
              </a:rPr>
              <a:t>村庄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  <p:transition spd="med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llage_cave_hou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ECDC"/>
                </a:solidFill>
                <a:latin typeface="Microsoft YaHei"/>
              </a:rPr>
              <a:t>07 短视频与扫码传播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07592"/>
            <a:ext cx="91440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_douy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03120"/>
            <a:ext cx="1417320" cy="1417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3675887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抖音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950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BEC4CD"/>
                </a:solidFill>
                <a:latin typeface="Microsoft YaHei"/>
              </a:rPr>
              <a:t>douyin.com/search/稷山</a:t>
            </a:r>
          </a:p>
        </p:txBody>
      </p:sp>
      <p:pic>
        <p:nvPicPr>
          <p:cNvPr id="9" name="Picture 8" descr="qr_mahu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103120"/>
            <a:ext cx="141732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3760" y="3675887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麻花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3950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BEC4CD"/>
                </a:solidFill>
                <a:latin typeface="Microsoft YaHei"/>
              </a:rPr>
              <a:t>1588.tv/techan/3545</a:t>
            </a:r>
          </a:p>
        </p:txBody>
      </p:sp>
      <p:pic>
        <p:nvPicPr>
          <p:cNvPr id="12" name="Picture 11" descr="qr_jiwa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103120"/>
            <a:ext cx="1417320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81160" y="3675887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A65E"/>
                </a:solidFill>
                <a:latin typeface="Microsoft YaHei"/>
              </a:rPr>
              <a:t>稷王庙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6568" y="3950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BEC4CD"/>
                </a:solidFill>
                <a:latin typeface="Microsoft YaHei"/>
              </a:rPr>
              <a:t>weibo.com/山西文旅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ECDC"/>
                </a:solidFill>
                <a:latin typeface="Microsoft YaHei"/>
              </a:rPr>
              <a:t>扫码查看抖音/视频号/小红书相关内容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  <p:transition spd="med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短视频选题库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8229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ess_1_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100584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65960" y="1691640"/>
            <a:ext cx="9052560" cy="566928"/>
          </a:xfrm>
          <a:prstGeom prst="rect">
            <a:avLst/>
          </a:prstGeom>
          <a:solidFill>
            <a:srgbClr val="F4ECD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8840" y="182880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A65E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828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塬上麦浪 15秒</a:t>
            </a:r>
          </a:p>
        </p:txBody>
      </p:sp>
      <p:pic>
        <p:nvPicPr>
          <p:cNvPr id="8" name="Picture 7" descr="banzao_dongza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04872"/>
            <a:ext cx="1005840" cy="5669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965960" y="2404872"/>
            <a:ext cx="9052560" cy="566928"/>
          </a:xfrm>
          <a:prstGeom prst="rect">
            <a:avLst/>
          </a:prstGeom>
          <a:solidFill>
            <a:srgbClr val="F4ECD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5420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A65E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542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板枣采摘 vlog</a:t>
            </a:r>
          </a:p>
        </p:txBody>
      </p:sp>
      <p:pic>
        <p:nvPicPr>
          <p:cNvPr id="12" name="Picture 11" descr="chinese_foo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18104"/>
            <a:ext cx="1005840" cy="56692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965960" y="3118104"/>
            <a:ext cx="9052560" cy="566928"/>
          </a:xfrm>
          <a:prstGeom prst="rect">
            <a:avLst/>
          </a:prstGeom>
          <a:solidFill>
            <a:srgbClr val="F4ECD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325526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A65E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25526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麻花出锅慢镜头</a:t>
            </a:r>
          </a:p>
        </p:txBody>
      </p:sp>
      <p:pic>
        <p:nvPicPr>
          <p:cNvPr id="16" name="Picture 15" descr="architecture_pingyao_oldtow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31335"/>
            <a:ext cx="1005840" cy="5669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965960" y="3831335"/>
            <a:ext cx="9052560" cy="566928"/>
          </a:xfrm>
          <a:prstGeom prst="rect">
            <a:avLst/>
          </a:prstGeom>
          <a:solidFill>
            <a:srgbClr val="F4ECD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396849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A65E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96849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古院光影走位</a:t>
            </a:r>
          </a:p>
        </p:txBody>
      </p:sp>
      <p:pic>
        <p:nvPicPr>
          <p:cNvPr id="20" name="Picture 19" descr="village_cave_house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544568"/>
            <a:ext cx="1005840" cy="56692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965960" y="4544568"/>
            <a:ext cx="9052560" cy="566928"/>
          </a:xfrm>
          <a:prstGeom prst="rect">
            <a:avLst/>
          </a:prstGeom>
          <a:solidFill>
            <a:srgbClr val="F4ECD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46817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A65E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6817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一日邢堡生活</a:t>
            </a:r>
          </a:p>
        </p:txBody>
      </p:sp>
      <p:pic>
        <p:nvPicPr>
          <p:cNvPr id="24" name="Picture 23" descr="heritage_1____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257800"/>
            <a:ext cx="1005840" cy="56692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965960" y="5257800"/>
            <a:ext cx="9052560" cy="566928"/>
          </a:xfrm>
          <a:prstGeom prst="rect">
            <a:avLst/>
          </a:prstGeom>
          <a:solidFill>
            <a:srgbClr val="F4ECD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53949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A65E"/>
                </a:solidFill>
                <a:latin typeface="Microsoft YaHe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非遗民俗片段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  <p:transition spd="med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ess_2______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C">
              <a:alpha val="5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imSun"/>
              </a:rPr>
              <a:t>邢堡村值得被看见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154680"/>
            <a:ext cx="1051560" cy="45720"/>
          </a:xfrm>
          <a:prstGeom prst="rect">
            <a:avLst/>
          </a:prstGeom>
          <a:solidFill>
            <a:srgbClr val="C6A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5204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ECDC"/>
                </a:solidFill>
                <a:latin typeface="Microsoft YaHei"/>
              </a:rPr>
              <a:t>让黄土塬、古院落、麻花香气和板枣甜意，成为山西乡村文旅的新叙事。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172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C6A65E"/>
                </a:solidFill>
                <a:latin typeface="Microsoft YaHe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8C8C"/>
                </a:solidFill>
                <a:latin typeface="Microsoft YaHei"/>
              </a:rPr>
              <a:t>邢堡村 · 严格筛选专题版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C6A65E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  <p:transition spd="med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